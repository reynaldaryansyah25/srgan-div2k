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Squada One" charset="1" panose="02000000000000000000"/>
      <p:regular r:id="rId14"/>
    </p:embeddedFont>
    <p:embeddedFont>
      <p:font typeface="Montserrat" charset="1" panose="000005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jpeg" Type="http://schemas.openxmlformats.org/officeDocument/2006/relationships/imag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3.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embeddings/oleObject1.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5.jpeg" Type="http://schemas.openxmlformats.org/officeDocument/2006/relationships/image"/><Relationship Id="rId6"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7.jpe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5947" t="-11829" r="-7870" b="-11438"/>
            </a:stretch>
          </a:blipFill>
        </p:spPr>
      </p:sp>
      <p:sp>
        <p:nvSpPr>
          <p:cNvPr name="TextBox 3" id="3"/>
          <p:cNvSpPr txBox="true"/>
          <p:nvPr/>
        </p:nvSpPr>
        <p:spPr>
          <a:xfrm rot="0">
            <a:off x="3634163" y="3484090"/>
            <a:ext cx="11019675" cy="3549668"/>
          </a:xfrm>
          <a:prstGeom prst="rect">
            <a:avLst/>
          </a:prstGeom>
        </p:spPr>
        <p:txBody>
          <a:bodyPr anchor="t" rtlCol="false" tIns="0" lIns="0" bIns="0" rIns="0">
            <a:spAutoFit/>
          </a:bodyPr>
          <a:lstStyle/>
          <a:p>
            <a:pPr algn="ctr">
              <a:lnSpc>
                <a:spcPts val="12990"/>
              </a:lnSpc>
            </a:pPr>
            <a:r>
              <a:rPr lang="en-US" sz="17554" spc="-789">
                <a:solidFill>
                  <a:srgbClr val="35DBFF"/>
                </a:solidFill>
                <a:latin typeface="Squada One"/>
                <a:ea typeface="Squada One"/>
                <a:cs typeface="Squada One"/>
                <a:sym typeface="Squada One"/>
              </a:rPr>
              <a:t>KECERDASAN BUATAN LANJUT</a:t>
            </a:r>
          </a:p>
        </p:txBody>
      </p:sp>
      <p:sp>
        <p:nvSpPr>
          <p:cNvPr name="TextBox 4" id="4"/>
          <p:cNvSpPr txBox="true"/>
          <p:nvPr/>
        </p:nvSpPr>
        <p:spPr>
          <a:xfrm rot="0">
            <a:off x="7600785" y="962025"/>
            <a:ext cx="3086429" cy="587850"/>
          </a:xfrm>
          <a:prstGeom prst="rect">
            <a:avLst/>
          </a:prstGeom>
        </p:spPr>
        <p:txBody>
          <a:bodyPr anchor="t" rtlCol="false" tIns="0" lIns="0" bIns="0" rIns="0">
            <a:spAutoFit/>
          </a:bodyPr>
          <a:lstStyle/>
          <a:p>
            <a:pPr algn="just">
              <a:lnSpc>
                <a:spcPts val="4870"/>
              </a:lnSpc>
            </a:pPr>
            <a:r>
              <a:rPr lang="en-US" sz="3478">
                <a:solidFill>
                  <a:srgbClr val="FFFFFF"/>
                </a:solidFill>
                <a:latin typeface="Montserrat"/>
                <a:ea typeface="Montserrat"/>
                <a:cs typeface="Montserrat"/>
                <a:sym typeface="Montserrat"/>
              </a:rPr>
              <a:t>KELOMPOK 3</a:t>
            </a:r>
          </a:p>
        </p:txBody>
      </p:sp>
      <p:sp>
        <p:nvSpPr>
          <p:cNvPr name="TextBox 5" id="5"/>
          <p:cNvSpPr txBox="true"/>
          <p:nvPr/>
        </p:nvSpPr>
        <p:spPr>
          <a:xfrm rot="0">
            <a:off x="4740161" y="8291764"/>
            <a:ext cx="8807679" cy="966536"/>
          </a:xfrm>
          <a:prstGeom prst="rect">
            <a:avLst/>
          </a:prstGeom>
        </p:spPr>
        <p:txBody>
          <a:bodyPr anchor="t" rtlCol="false" tIns="0" lIns="0" bIns="0" rIns="0">
            <a:spAutoFit/>
          </a:bodyPr>
          <a:lstStyle/>
          <a:p>
            <a:pPr algn="ctr">
              <a:lnSpc>
                <a:spcPts val="3640"/>
              </a:lnSpc>
            </a:pPr>
            <a:r>
              <a:rPr lang="en-US" sz="4000">
                <a:solidFill>
                  <a:srgbClr val="FFFFFF"/>
                </a:solidFill>
                <a:latin typeface="Squada One"/>
                <a:ea typeface="Squada One"/>
                <a:cs typeface="Squada One"/>
                <a:sym typeface="Squada One"/>
              </a:rPr>
              <a:t>IM</a:t>
            </a:r>
            <a:r>
              <a:rPr lang="en-US" sz="4000">
                <a:solidFill>
                  <a:srgbClr val="FFFFFF"/>
                </a:solidFill>
                <a:latin typeface="Squada One"/>
                <a:ea typeface="Squada One"/>
                <a:cs typeface="Squada One"/>
                <a:sym typeface="Squada One"/>
              </a:rPr>
              <a:t>PLEMENTASI SRGAN UNTUK SUPER-RESOLUTION PADA DATASET DIV2K DAN SET 5 DAN 14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5947" t="-11829" r="-7870" b="-11438"/>
            </a:stretch>
          </a:blipFill>
        </p:spPr>
      </p:sp>
      <p:sp>
        <p:nvSpPr>
          <p:cNvPr name="Freeform 3" id="3"/>
          <p:cNvSpPr/>
          <p:nvPr/>
        </p:nvSpPr>
        <p:spPr>
          <a:xfrm flipH="false" flipV="false" rot="0">
            <a:off x="1424248" y="3503796"/>
            <a:ext cx="3495766" cy="3495766"/>
          </a:xfrm>
          <a:custGeom>
            <a:avLst/>
            <a:gdLst/>
            <a:ahLst/>
            <a:cxnLst/>
            <a:rect r="r" b="b" t="t" l="l"/>
            <a:pathLst>
              <a:path h="3495766" w="3495766">
                <a:moveTo>
                  <a:pt x="0" y="0"/>
                </a:moveTo>
                <a:lnTo>
                  <a:pt x="3495766" y="0"/>
                </a:lnTo>
                <a:lnTo>
                  <a:pt x="3495766" y="3495766"/>
                </a:lnTo>
                <a:lnTo>
                  <a:pt x="0" y="3495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424248" y="1618941"/>
            <a:ext cx="10116388" cy="1244665"/>
          </a:xfrm>
          <a:prstGeom prst="rect">
            <a:avLst/>
          </a:prstGeom>
        </p:spPr>
        <p:txBody>
          <a:bodyPr anchor="t" rtlCol="false" tIns="0" lIns="0" bIns="0" rIns="0">
            <a:spAutoFit/>
          </a:bodyPr>
          <a:lstStyle/>
          <a:p>
            <a:pPr algn="ctr">
              <a:lnSpc>
                <a:spcPts val="9099"/>
              </a:lnSpc>
            </a:pPr>
            <a:r>
              <a:rPr lang="en-US" sz="9999">
                <a:solidFill>
                  <a:srgbClr val="FFFFFF"/>
                </a:solidFill>
                <a:latin typeface="Squada One"/>
                <a:ea typeface="Squada One"/>
                <a:cs typeface="Squada One"/>
                <a:sym typeface="Squada One"/>
              </a:rPr>
              <a:t>ANGGOTA KELOMPOK 3</a:t>
            </a:r>
          </a:p>
        </p:txBody>
      </p:sp>
      <p:sp>
        <p:nvSpPr>
          <p:cNvPr name="Freeform 5" id="5"/>
          <p:cNvSpPr/>
          <p:nvPr/>
        </p:nvSpPr>
        <p:spPr>
          <a:xfrm flipH="false" flipV="false" rot="2699999">
            <a:off x="-31121" y="8136102"/>
            <a:ext cx="2869485" cy="2707750"/>
          </a:xfrm>
          <a:custGeom>
            <a:avLst/>
            <a:gdLst/>
            <a:ahLst/>
            <a:cxnLst/>
            <a:rect r="r" b="b" t="t" l="l"/>
            <a:pathLst>
              <a:path h="2707750" w="2869485">
                <a:moveTo>
                  <a:pt x="0" y="0"/>
                </a:moveTo>
                <a:lnTo>
                  <a:pt x="2869485" y="0"/>
                </a:lnTo>
                <a:lnTo>
                  <a:pt x="2869485" y="2707750"/>
                </a:lnTo>
                <a:lnTo>
                  <a:pt x="0" y="27077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3350369">
            <a:off x="11393949" y="-729651"/>
            <a:ext cx="4392299" cy="4144734"/>
          </a:xfrm>
          <a:custGeom>
            <a:avLst/>
            <a:gdLst/>
            <a:ahLst/>
            <a:cxnLst/>
            <a:rect r="r" b="b" t="t" l="l"/>
            <a:pathLst>
              <a:path h="4144734" w="4392299">
                <a:moveTo>
                  <a:pt x="0" y="0"/>
                </a:moveTo>
                <a:lnTo>
                  <a:pt x="4392300" y="0"/>
                </a:lnTo>
                <a:lnTo>
                  <a:pt x="4392300" y="4144734"/>
                </a:lnTo>
                <a:lnTo>
                  <a:pt x="0" y="41447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3350369">
            <a:off x="10621617" y="-355395"/>
            <a:ext cx="1486768" cy="1402968"/>
          </a:xfrm>
          <a:custGeom>
            <a:avLst/>
            <a:gdLst/>
            <a:ahLst/>
            <a:cxnLst/>
            <a:rect r="r" b="b" t="t" l="l"/>
            <a:pathLst>
              <a:path h="1402968" w="1486768">
                <a:moveTo>
                  <a:pt x="0" y="0"/>
                </a:moveTo>
                <a:lnTo>
                  <a:pt x="1486768" y="0"/>
                </a:lnTo>
                <a:lnTo>
                  <a:pt x="1486768" y="1402968"/>
                </a:lnTo>
                <a:lnTo>
                  <a:pt x="0" y="14029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5405789" y="3503796"/>
            <a:ext cx="3495766" cy="3495766"/>
          </a:xfrm>
          <a:custGeom>
            <a:avLst/>
            <a:gdLst/>
            <a:ahLst/>
            <a:cxnLst/>
            <a:rect r="r" b="b" t="t" l="l"/>
            <a:pathLst>
              <a:path h="3495766" w="3495766">
                <a:moveTo>
                  <a:pt x="0" y="0"/>
                </a:moveTo>
                <a:lnTo>
                  <a:pt x="3495766" y="0"/>
                </a:lnTo>
                <a:lnTo>
                  <a:pt x="3495766" y="3495766"/>
                </a:lnTo>
                <a:lnTo>
                  <a:pt x="0" y="3495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9387330" y="3503796"/>
            <a:ext cx="3495766" cy="3495766"/>
          </a:xfrm>
          <a:custGeom>
            <a:avLst/>
            <a:gdLst/>
            <a:ahLst/>
            <a:cxnLst/>
            <a:rect r="r" b="b" t="t" l="l"/>
            <a:pathLst>
              <a:path h="3495766" w="3495766">
                <a:moveTo>
                  <a:pt x="0" y="0"/>
                </a:moveTo>
                <a:lnTo>
                  <a:pt x="3495766" y="0"/>
                </a:lnTo>
                <a:lnTo>
                  <a:pt x="3495766" y="3495766"/>
                </a:lnTo>
                <a:lnTo>
                  <a:pt x="0" y="3495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3367986" y="3503796"/>
            <a:ext cx="3495766" cy="3495766"/>
          </a:xfrm>
          <a:custGeom>
            <a:avLst/>
            <a:gdLst/>
            <a:ahLst/>
            <a:cxnLst/>
            <a:rect r="r" b="b" t="t" l="l"/>
            <a:pathLst>
              <a:path h="3495766" w="3495766">
                <a:moveTo>
                  <a:pt x="0" y="0"/>
                </a:moveTo>
                <a:lnTo>
                  <a:pt x="3495766" y="0"/>
                </a:lnTo>
                <a:lnTo>
                  <a:pt x="3495766" y="3495766"/>
                </a:lnTo>
                <a:lnTo>
                  <a:pt x="0" y="3495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1773602" y="3900297"/>
            <a:ext cx="2982413" cy="2717623"/>
            <a:chOff x="0" y="0"/>
            <a:chExt cx="977733" cy="890926"/>
          </a:xfrm>
        </p:grpSpPr>
        <p:sp>
          <p:nvSpPr>
            <p:cNvPr name="Freeform 12" id="12"/>
            <p:cNvSpPr/>
            <p:nvPr/>
          </p:nvSpPr>
          <p:spPr>
            <a:xfrm flipH="false" flipV="false" rot="0">
              <a:off x="0" y="0"/>
              <a:ext cx="977733" cy="890926"/>
            </a:xfrm>
            <a:custGeom>
              <a:avLst/>
              <a:gdLst/>
              <a:ahLst/>
              <a:cxnLst/>
              <a:rect r="r" b="b" t="t" l="l"/>
              <a:pathLst>
                <a:path h="890926" w="977733">
                  <a:moveTo>
                    <a:pt x="59705" y="0"/>
                  </a:moveTo>
                  <a:lnTo>
                    <a:pt x="918029" y="0"/>
                  </a:lnTo>
                  <a:cubicBezTo>
                    <a:pt x="951003" y="0"/>
                    <a:pt x="977733" y="26731"/>
                    <a:pt x="977733" y="59705"/>
                  </a:cubicBezTo>
                  <a:lnTo>
                    <a:pt x="977733" y="831222"/>
                  </a:lnTo>
                  <a:cubicBezTo>
                    <a:pt x="977733" y="864196"/>
                    <a:pt x="951003" y="890926"/>
                    <a:pt x="918029" y="890926"/>
                  </a:cubicBezTo>
                  <a:lnTo>
                    <a:pt x="59705" y="890926"/>
                  </a:lnTo>
                  <a:cubicBezTo>
                    <a:pt x="43870" y="890926"/>
                    <a:pt x="28684" y="884636"/>
                    <a:pt x="17487" y="873439"/>
                  </a:cubicBezTo>
                  <a:cubicBezTo>
                    <a:pt x="6290" y="862242"/>
                    <a:pt x="0" y="847056"/>
                    <a:pt x="0" y="831222"/>
                  </a:cubicBezTo>
                  <a:lnTo>
                    <a:pt x="0" y="59705"/>
                  </a:lnTo>
                  <a:cubicBezTo>
                    <a:pt x="0" y="26731"/>
                    <a:pt x="26731" y="0"/>
                    <a:pt x="59705" y="0"/>
                  </a:cubicBezTo>
                  <a:close/>
                </a:path>
              </a:pathLst>
            </a:custGeom>
            <a:blipFill>
              <a:blip r:embed="rId7"/>
              <a:stretch>
                <a:fillRect l="-12199" t="0" r="-12199" b="0"/>
              </a:stretch>
            </a:blipFill>
          </p:spPr>
        </p:sp>
      </p:grpSp>
      <p:grpSp>
        <p:nvGrpSpPr>
          <p:cNvPr name="Group 13" id="13"/>
          <p:cNvGrpSpPr/>
          <p:nvPr/>
        </p:nvGrpSpPr>
        <p:grpSpPr>
          <a:xfrm rot="0">
            <a:off x="5765461" y="3892868"/>
            <a:ext cx="2982413" cy="2717623"/>
            <a:chOff x="0" y="0"/>
            <a:chExt cx="977733" cy="890926"/>
          </a:xfrm>
        </p:grpSpPr>
        <p:sp>
          <p:nvSpPr>
            <p:cNvPr name="Freeform 14" id="14"/>
            <p:cNvSpPr/>
            <p:nvPr/>
          </p:nvSpPr>
          <p:spPr>
            <a:xfrm flipH="false" flipV="false" rot="0">
              <a:off x="0" y="0"/>
              <a:ext cx="977733" cy="890926"/>
            </a:xfrm>
            <a:custGeom>
              <a:avLst/>
              <a:gdLst/>
              <a:ahLst/>
              <a:cxnLst/>
              <a:rect r="r" b="b" t="t" l="l"/>
              <a:pathLst>
                <a:path h="890926" w="977733">
                  <a:moveTo>
                    <a:pt x="59705" y="0"/>
                  </a:moveTo>
                  <a:lnTo>
                    <a:pt x="918029" y="0"/>
                  </a:lnTo>
                  <a:cubicBezTo>
                    <a:pt x="951003" y="0"/>
                    <a:pt x="977733" y="26731"/>
                    <a:pt x="977733" y="59705"/>
                  </a:cubicBezTo>
                  <a:lnTo>
                    <a:pt x="977733" y="831222"/>
                  </a:lnTo>
                  <a:cubicBezTo>
                    <a:pt x="977733" y="864196"/>
                    <a:pt x="951003" y="890926"/>
                    <a:pt x="918029" y="890926"/>
                  </a:cubicBezTo>
                  <a:lnTo>
                    <a:pt x="59705" y="890926"/>
                  </a:lnTo>
                  <a:cubicBezTo>
                    <a:pt x="43870" y="890926"/>
                    <a:pt x="28684" y="884636"/>
                    <a:pt x="17487" y="873439"/>
                  </a:cubicBezTo>
                  <a:cubicBezTo>
                    <a:pt x="6290" y="862242"/>
                    <a:pt x="0" y="847056"/>
                    <a:pt x="0" y="831222"/>
                  </a:cubicBezTo>
                  <a:lnTo>
                    <a:pt x="0" y="59705"/>
                  </a:lnTo>
                  <a:cubicBezTo>
                    <a:pt x="0" y="26731"/>
                    <a:pt x="26731" y="0"/>
                    <a:pt x="59705" y="0"/>
                  </a:cubicBezTo>
                  <a:close/>
                </a:path>
              </a:pathLst>
            </a:custGeom>
            <a:blipFill>
              <a:blip r:embed="rId8"/>
              <a:stretch>
                <a:fillRect l="0" t="-40755" r="0" b="-36249"/>
              </a:stretch>
            </a:blipFill>
          </p:spPr>
        </p:sp>
      </p:grpSp>
      <p:grpSp>
        <p:nvGrpSpPr>
          <p:cNvPr name="Group 15" id="15"/>
          <p:cNvGrpSpPr/>
          <p:nvPr/>
        </p:nvGrpSpPr>
        <p:grpSpPr>
          <a:xfrm rot="0">
            <a:off x="9739755" y="3885439"/>
            <a:ext cx="2982413" cy="2717623"/>
            <a:chOff x="0" y="0"/>
            <a:chExt cx="977733" cy="890926"/>
          </a:xfrm>
        </p:grpSpPr>
        <p:sp>
          <p:nvSpPr>
            <p:cNvPr name="Freeform 16" id="16"/>
            <p:cNvSpPr/>
            <p:nvPr/>
          </p:nvSpPr>
          <p:spPr>
            <a:xfrm flipH="false" flipV="false" rot="0">
              <a:off x="0" y="0"/>
              <a:ext cx="977733" cy="890926"/>
            </a:xfrm>
            <a:custGeom>
              <a:avLst/>
              <a:gdLst/>
              <a:ahLst/>
              <a:cxnLst/>
              <a:rect r="r" b="b" t="t" l="l"/>
              <a:pathLst>
                <a:path h="890926" w="977733">
                  <a:moveTo>
                    <a:pt x="59705" y="0"/>
                  </a:moveTo>
                  <a:lnTo>
                    <a:pt x="918029" y="0"/>
                  </a:lnTo>
                  <a:cubicBezTo>
                    <a:pt x="951003" y="0"/>
                    <a:pt x="977733" y="26731"/>
                    <a:pt x="977733" y="59705"/>
                  </a:cubicBezTo>
                  <a:lnTo>
                    <a:pt x="977733" y="831222"/>
                  </a:lnTo>
                  <a:cubicBezTo>
                    <a:pt x="977733" y="864196"/>
                    <a:pt x="951003" y="890926"/>
                    <a:pt x="918029" y="890926"/>
                  </a:cubicBezTo>
                  <a:lnTo>
                    <a:pt x="59705" y="890926"/>
                  </a:lnTo>
                  <a:cubicBezTo>
                    <a:pt x="43870" y="890926"/>
                    <a:pt x="28684" y="884636"/>
                    <a:pt x="17487" y="873439"/>
                  </a:cubicBezTo>
                  <a:cubicBezTo>
                    <a:pt x="6290" y="862242"/>
                    <a:pt x="0" y="847056"/>
                    <a:pt x="0" y="831222"/>
                  </a:cubicBezTo>
                  <a:lnTo>
                    <a:pt x="0" y="59705"/>
                  </a:lnTo>
                  <a:cubicBezTo>
                    <a:pt x="0" y="26731"/>
                    <a:pt x="26731" y="0"/>
                    <a:pt x="59705" y="0"/>
                  </a:cubicBezTo>
                  <a:close/>
                </a:path>
              </a:pathLst>
            </a:custGeom>
            <a:blipFill>
              <a:blip r:embed="rId9"/>
              <a:stretch>
                <a:fillRect l="0" t="-42678" r="0" b="-52421"/>
              </a:stretch>
            </a:blipFill>
          </p:spPr>
        </p:sp>
      </p:grpSp>
      <p:grpSp>
        <p:nvGrpSpPr>
          <p:cNvPr name="Group 17" id="17"/>
          <p:cNvGrpSpPr/>
          <p:nvPr/>
        </p:nvGrpSpPr>
        <p:grpSpPr>
          <a:xfrm rot="0">
            <a:off x="13721296" y="3885439"/>
            <a:ext cx="2982413" cy="2717623"/>
            <a:chOff x="0" y="0"/>
            <a:chExt cx="977733" cy="890926"/>
          </a:xfrm>
        </p:grpSpPr>
        <p:sp>
          <p:nvSpPr>
            <p:cNvPr name="Freeform 18" id="18"/>
            <p:cNvSpPr/>
            <p:nvPr/>
          </p:nvSpPr>
          <p:spPr>
            <a:xfrm flipH="false" flipV="false" rot="0">
              <a:off x="0" y="0"/>
              <a:ext cx="977733" cy="890926"/>
            </a:xfrm>
            <a:custGeom>
              <a:avLst/>
              <a:gdLst/>
              <a:ahLst/>
              <a:cxnLst/>
              <a:rect r="r" b="b" t="t" l="l"/>
              <a:pathLst>
                <a:path h="890926" w="977733">
                  <a:moveTo>
                    <a:pt x="59705" y="0"/>
                  </a:moveTo>
                  <a:lnTo>
                    <a:pt x="918029" y="0"/>
                  </a:lnTo>
                  <a:cubicBezTo>
                    <a:pt x="951003" y="0"/>
                    <a:pt x="977733" y="26731"/>
                    <a:pt x="977733" y="59705"/>
                  </a:cubicBezTo>
                  <a:lnTo>
                    <a:pt x="977733" y="831222"/>
                  </a:lnTo>
                  <a:cubicBezTo>
                    <a:pt x="977733" y="864196"/>
                    <a:pt x="951003" y="890926"/>
                    <a:pt x="918029" y="890926"/>
                  </a:cubicBezTo>
                  <a:lnTo>
                    <a:pt x="59705" y="890926"/>
                  </a:lnTo>
                  <a:cubicBezTo>
                    <a:pt x="43870" y="890926"/>
                    <a:pt x="28684" y="884636"/>
                    <a:pt x="17487" y="873439"/>
                  </a:cubicBezTo>
                  <a:cubicBezTo>
                    <a:pt x="6290" y="862242"/>
                    <a:pt x="0" y="847056"/>
                    <a:pt x="0" y="831222"/>
                  </a:cubicBezTo>
                  <a:lnTo>
                    <a:pt x="0" y="59705"/>
                  </a:lnTo>
                  <a:cubicBezTo>
                    <a:pt x="0" y="26731"/>
                    <a:pt x="26731" y="0"/>
                    <a:pt x="59705" y="0"/>
                  </a:cubicBezTo>
                  <a:close/>
                </a:path>
              </a:pathLst>
            </a:custGeom>
            <a:blipFill>
              <a:blip r:embed="rId10"/>
              <a:stretch>
                <a:fillRect l="0" t="-23162" r="0" b="-23162"/>
              </a:stretch>
            </a:blipFill>
          </p:spPr>
        </p:sp>
      </p:grpSp>
      <p:sp>
        <p:nvSpPr>
          <p:cNvPr name="TextBox 19" id="19"/>
          <p:cNvSpPr txBox="true"/>
          <p:nvPr/>
        </p:nvSpPr>
        <p:spPr>
          <a:xfrm rot="0">
            <a:off x="1589834" y="7151962"/>
            <a:ext cx="3166181" cy="785264"/>
          </a:xfrm>
          <a:prstGeom prst="rect">
            <a:avLst/>
          </a:prstGeom>
        </p:spPr>
        <p:txBody>
          <a:bodyPr anchor="t" rtlCol="false" tIns="0" lIns="0" bIns="0" rIns="0">
            <a:spAutoFit/>
          </a:bodyPr>
          <a:lstStyle/>
          <a:p>
            <a:pPr algn="ctr">
              <a:lnSpc>
                <a:spcPts val="2932"/>
              </a:lnSpc>
            </a:pPr>
            <a:r>
              <a:rPr lang="en-US" sz="3222">
                <a:solidFill>
                  <a:srgbClr val="FFFFFF"/>
                </a:solidFill>
                <a:latin typeface="Squada One"/>
                <a:ea typeface="Squada One"/>
                <a:cs typeface="Squada One"/>
                <a:sym typeface="Squada One"/>
              </a:rPr>
              <a:t>REYNALD ARYANSYAH</a:t>
            </a:r>
          </a:p>
          <a:p>
            <a:pPr algn="ctr">
              <a:lnSpc>
                <a:spcPts val="2932"/>
              </a:lnSpc>
            </a:pPr>
            <a:r>
              <a:rPr lang="en-US" sz="3222">
                <a:solidFill>
                  <a:srgbClr val="FFFFFF"/>
                </a:solidFill>
                <a:latin typeface="Squada One"/>
                <a:ea typeface="Squada One"/>
                <a:cs typeface="Squada One"/>
                <a:sym typeface="Squada One"/>
              </a:rPr>
              <a:t>23.11.5583</a:t>
            </a:r>
          </a:p>
        </p:txBody>
      </p:sp>
      <p:sp>
        <p:nvSpPr>
          <p:cNvPr name="TextBox 20" id="20"/>
          <p:cNvSpPr txBox="true"/>
          <p:nvPr/>
        </p:nvSpPr>
        <p:spPr>
          <a:xfrm rot="0">
            <a:off x="5581693" y="7151962"/>
            <a:ext cx="3166181" cy="785221"/>
          </a:xfrm>
          <a:prstGeom prst="rect">
            <a:avLst/>
          </a:prstGeom>
        </p:spPr>
        <p:txBody>
          <a:bodyPr anchor="t" rtlCol="false" tIns="0" lIns="0" bIns="0" rIns="0">
            <a:spAutoFit/>
          </a:bodyPr>
          <a:lstStyle/>
          <a:p>
            <a:pPr algn="ctr">
              <a:lnSpc>
                <a:spcPts val="2932"/>
              </a:lnSpc>
            </a:pPr>
            <a:r>
              <a:rPr lang="en-US" sz="3222">
                <a:solidFill>
                  <a:srgbClr val="FFFFFF"/>
                </a:solidFill>
                <a:latin typeface="Squada One"/>
                <a:ea typeface="Squada One"/>
                <a:cs typeface="Squada One"/>
                <a:sym typeface="Squada One"/>
              </a:rPr>
              <a:t>ANDRI LAKSONO</a:t>
            </a:r>
          </a:p>
          <a:p>
            <a:pPr algn="ctr">
              <a:lnSpc>
                <a:spcPts val="2932"/>
              </a:lnSpc>
            </a:pPr>
            <a:r>
              <a:rPr lang="en-US" sz="3222">
                <a:solidFill>
                  <a:srgbClr val="FFFFFF"/>
                </a:solidFill>
                <a:latin typeface="Squada One"/>
                <a:ea typeface="Squada One"/>
                <a:cs typeface="Squada One"/>
                <a:sym typeface="Squada One"/>
              </a:rPr>
              <a:t>23.11.5579</a:t>
            </a:r>
          </a:p>
        </p:txBody>
      </p:sp>
      <p:sp>
        <p:nvSpPr>
          <p:cNvPr name="TextBox 21" id="21"/>
          <p:cNvSpPr txBox="true"/>
          <p:nvPr/>
        </p:nvSpPr>
        <p:spPr>
          <a:xfrm rot="0">
            <a:off x="9105989" y="7151962"/>
            <a:ext cx="4165309" cy="785264"/>
          </a:xfrm>
          <a:prstGeom prst="rect">
            <a:avLst/>
          </a:prstGeom>
        </p:spPr>
        <p:txBody>
          <a:bodyPr anchor="t" rtlCol="false" tIns="0" lIns="0" bIns="0" rIns="0">
            <a:spAutoFit/>
          </a:bodyPr>
          <a:lstStyle/>
          <a:p>
            <a:pPr algn="ctr">
              <a:lnSpc>
                <a:spcPts val="2932"/>
              </a:lnSpc>
            </a:pPr>
            <a:r>
              <a:rPr lang="en-US" sz="3222">
                <a:solidFill>
                  <a:srgbClr val="FFFFFF"/>
                </a:solidFill>
                <a:latin typeface="Squada One"/>
                <a:ea typeface="Squada One"/>
                <a:cs typeface="Squada One"/>
                <a:sym typeface="Squada One"/>
              </a:rPr>
              <a:t>M NOER ATTALAH DZAHKWAN</a:t>
            </a:r>
          </a:p>
          <a:p>
            <a:pPr algn="ctr">
              <a:lnSpc>
                <a:spcPts val="2932"/>
              </a:lnSpc>
            </a:pPr>
            <a:r>
              <a:rPr lang="en-US" sz="3222">
                <a:solidFill>
                  <a:srgbClr val="FFFFFF"/>
                </a:solidFill>
                <a:latin typeface="Squada One"/>
                <a:ea typeface="Squada One"/>
                <a:cs typeface="Squada One"/>
                <a:sym typeface="Squada One"/>
              </a:rPr>
              <a:t>23.11.5575</a:t>
            </a:r>
          </a:p>
        </p:txBody>
      </p:sp>
      <p:sp>
        <p:nvSpPr>
          <p:cNvPr name="TextBox 22" id="22"/>
          <p:cNvSpPr txBox="true"/>
          <p:nvPr/>
        </p:nvSpPr>
        <p:spPr>
          <a:xfrm rot="0">
            <a:off x="13629413" y="7151962"/>
            <a:ext cx="3166181" cy="785264"/>
          </a:xfrm>
          <a:prstGeom prst="rect">
            <a:avLst/>
          </a:prstGeom>
        </p:spPr>
        <p:txBody>
          <a:bodyPr anchor="t" rtlCol="false" tIns="0" lIns="0" bIns="0" rIns="0">
            <a:spAutoFit/>
          </a:bodyPr>
          <a:lstStyle/>
          <a:p>
            <a:pPr algn="ctr">
              <a:lnSpc>
                <a:spcPts val="2932"/>
              </a:lnSpc>
            </a:pPr>
            <a:r>
              <a:rPr lang="en-US" sz="3222">
                <a:solidFill>
                  <a:srgbClr val="FFFFFF"/>
                </a:solidFill>
                <a:latin typeface="Squada One"/>
                <a:ea typeface="Squada One"/>
                <a:cs typeface="Squada One"/>
                <a:sym typeface="Squada One"/>
              </a:rPr>
              <a:t>AHMAD RAFDY R.</a:t>
            </a:r>
          </a:p>
          <a:p>
            <a:pPr algn="ctr">
              <a:lnSpc>
                <a:spcPts val="2932"/>
              </a:lnSpc>
            </a:pPr>
            <a:r>
              <a:rPr lang="en-US" sz="3222">
                <a:solidFill>
                  <a:srgbClr val="FFFFFF"/>
                </a:solidFill>
                <a:latin typeface="Squada One"/>
                <a:ea typeface="Squada One"/>
                <a:cs typeface="Squada One"/>
                <a:sym typeface="Squada One"/>
              </a:rPr>
              <a:t>23.11.5567</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5947" t="-11829" r="-7870" b="-11438"/>
            </a:stretch>
          </a:blipFill>
        </p:spPr>
      </p:sp>
      <p:sp>
        <p:nvSpPr>
          <p:cNvPr name="Freeform 3" id="3"/>
          <p:cNvSpPr/>
          <p:nvPr/>
        </p:nvSpPr>
        <p:spPr>
          <a:xfrm flipH="false" flipV="false" rot="0">
            <a:off x="1028700" y="2389212"/>
            <a:ext cx="5837605" cy="5508576"/>
          </a:xfrm>
          <a:custGeom>
            <a:avLst/>
            <a:gdLst/>
            <a:ahLst/>
            <a:cxnLst/>
            <a:rect r="r" b="b" t="t" l="l"/>
            <a:pathLst>
              <a:path h="5508576" w="5837605">
                <a:moveTo>
                  <a:pt x="0" y="0"/>
                </a:moveTo>
                <a:lnTo>
                  <a:pt x="5837605" y="0"/>
                </a:lnTo>
                <a:lnTo>
                  <a:pt x="5837605" y="5508576"/>
                </a:lnTo>
                <a:lnTo>
                  <a:pt x="0" y="55085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620588" y="2816585"/>
            <a:ext cx="4653829" cy="465382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33333" t="0" r="-33333" b="0"/>
              </a:stretch>
            </a:blipFill>
          </p:spPr>
        </p:sp>
      </p:grpSp>
      <p:sp>
        <p:nvSpPr>
          <p:cNvPr name="TextBox 6" id="6"/>
          <p:cNvSpPr txBox="true"/>
          <p:nvPr/>
        </p:nvSpPr>
        <p:spPr>
          <a:xfrm rot="0">
            <a:off x="8139196" y="1304925"/>
            <a:ext cx="7667077" cy="1244665"/>
          </a:xfrm>
          <a:prstGeom prst="rect">
            <a:avLst/>
          </a:prstGeom>
        </p:spPr>
        <p:txBody>
          <a:bodyPr anchor="t" rtlCol="false" tIns="0" lIns="0" bIns="0" rIns="0">
            <a:spAutoFit/>
          </a:bodyPr>
          <a:lstStyle/>
          <a:p>
            <a:pPr algn="l">
              <a:lnSpc>
                <a:spcPts val="9099"/>
              </a:lnSpc>
            </a:pPr>
            <a:r>
              <a:rPr lang="en-US" sz="9999">
                <a:solidFill>
                  <a:srgbClr val="FFFFFF"/>
                </a:solidFill>
                <a:latin typeface="Squada One"/>
                <a:ea typeface="Squada One"/>
                <a:cs typeface="Squada One"/>
                <a:sym typeface="Squada One"/>
              </a:rPr>
              <a:t>LATAR BELAKANG</a:t>
            </a:r>
          </a:p>
        </p:txBody>
      </p:sp>
      <p:sp>
        <p:nvSpPr>
          <p:cNvPr name="TextBox 7" id="7"/>
          <p:cNvSpPr txBox="true"/>
          <p:nvPr/>
        </p:nvSpPr>
        <p:spPr>
          <a:xfrm rot="0">
            <a:off x="8139196" y="2657125"/>
            <a:ext cx="9120104" cy="6330355"/>
          </a:xfrm>
          <a:prstGeom prst="rect">
            <a:avLst/>
          </a:prstGeom>
        </p:spPr>
        <p:txBody>
          <a:bodyPr anchor="t" rtlCol="false" tIns="0" lIns="0" bIns="0" rIns="0">
            <a:spAutoFit/>
          </a:bodyPr>
          <a:lstStyle/>
          <a:p>
            <a:pPr algn="just">
              <a:lnSpc>
                <a:spcPts val="2800"/>
              </a:lnSpc>
              <a:spcBef>
                <a:spcPct val="0"/>
              </a:spcBef>
            </a:pPr>
            <a:r>
              <a:rPr lang="en-US" sz="2000">
                <a:solidFill>
                  <a:srgbClr val="FFFFFF"/>
                </a:solidFill>
                <a:latin typeface="Montserrat"/>
                <a:ea typeface="Montserrat"/>
                <a:cs typeface="Montserrat"/>
                <a:sym typeface="Montserrat"/>
              </a:rPr>
              <a:t>Dalam</a:t>
            </a:r>
            <a:r>
              <a:rPr lang="en-US" sz="2000" strike="noStrike" u="none">
                <a:solidFill>
                  <a:srgbClr val="FFFFFF"/>
                </a:solidFill>
                <a:latin typeface="Montserrat"/>
                <a:ea typeface="Montserrat"/>
                <a:cs typeface="Montserrat"/>
                <a:sym typeface="Montserrat"/>
              </a:rPr>
              <a:t> era transformasi digital, kebutuhan citra resolusi tinggi (HR) semakin meningkat di berbagai bidang, namun keterbatasan sensor optik dan bandwidth sering menghasilkan citra resolusi rendah (LR), sehingga diperlukan teknik Single Image Super-Resolution (SISR) untuk merekonstruksi detail yang hilang. Metode konvensional seperti interpolasi Bicubic maupun pendekatan Deep Learning awal berbasis Mean Squared Error (MSE) memang mampu menghasilkan nilai PSNR tinggi, tetapi cenderung menghasilkan citra yang terlalu halus dan kehilangan detail tekstur penting bagi persepsi visual manusia. </a:t>
            </a:r>
          </a:p>
          <a:p>
            <a:pPr algn="just">
              <a:lnSpc>
                <a:spcPts val="2800"/>
              </a:lnSpc>
              <a:spcBef>
                <a:spcPct val="0"/>
              </a:spcBef>
            </a:pPr>
          </a:p>
          <a:p>
            <a:pPr algn="just" marL="0" indent="0" lvl="1">
              <a:lnSpc>
                <a:spcPts val="2800"/>
              </a:lnSpc>
              <a:spcBef>
                <a:spcPct val="0"/>
              </a:spcBef>
            </a:pPr>
            <a:r>
              <a:rPr lang="en-US" sz="2000" strike="noStrike" u="none">
                <a:solidFill>
                  <a:srgbClr val="FFFFFF"/>
                </a:solidFill>
                <a:latin typeface="Montserrat"/>
                <a:ea typeface="Montserrat"/>
                <a:cs typeface="Montserrat"/>
                <a:sym typeface="Montserrat"/>
              </a:rPr>
              <a:t>Keterbatasan ini mendorong penggunaan Super-Resolution Generative Adversarial Network (SRGAN) yang mengadopsi skema adversarial training dan perceptual loss untuk menghasilkan tekstur yang lebih realistis dan tajam. Oleh karena itu, penelitian ini berfokus pada implementasi SRGAN sebagai solusi untuk mengatasi efek blur pada metode konvensional dengan menitikberatkan pada peningkatan kualitas visual perseptual, meskipun terdapat trade-off antara kualitas persepsi dan metrik numerik seperti PSNR.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5947" t="-11829" r="-7870" b="-11438"/>
            </a:stretch>
          </a:blipFill>
        </p:spPr>
      </p:sp>
      <p:sp>
        <p:nvSpPr>
          <p:cNvPr name="Freeform 3" id="3"/>
          <p:cNvSpPr/>
          <p:nvPr/>
        </p:nvSpPr>
        <p:spPr>
          <a:xfrm flipH="false" flipV="false" rot="0">
            <a:off x="8746142" y="7721455"/>
            <a:ext cx="6359496" cy="6001051"/>
          </a:xfrm>
          <a:custGeom>
            <a:avLst/>
            <a:gdLst/>
            <a:ahLst/>
            <a:cxnLst/>
            <a:rect r="r" b="b" t="t" l="l"/>
            <a:pathLst>
              <a:path h="6001051" w="6359496">
                <a:moveTo>
                  <a:pt x="0" y="0"/>
                </a:moveTo>
                <a:lnTo>
                  <a:pt x="6359496" y="0"/>
                </a:lnTo>
                <a:lnTo>
                  <a:pt x="6359496" y="6001051"/>
                </a:lnTo>
                <a:lnTo>
                  <a:pt x="0" y="6001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941974">
            <a:off x="14079552" y="-1959434"/>
            <a:ext cx="6359496" cy="6001051"/>
          </a:xfrm>
          <a:custGeom>
            <a:avLst/>
            <a:gdLst/>
            <a:ahLst/>
            <a:cxnLst/>
            <a:rect r="r" b="b" t="t" l="l"/>
            <a:pathLst>
              <a:path h="6001051" w="6359496">
                <a:moveTo>
                  <a:pt x="0" y="0"/>
                </a:moveTo>
                <a:lnTo>
                  <a:pt x="6359496" y="0"/>
                </a:lnTo>
                <a:lnTo>
                  <a:pt x="6359496" y="6001051"/>
                </a:lnTo>
                <a:lnTo>
                  <a:pt x="0" y="6001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28700" y="1317316"/>
            <a:ext cx="3562827" cy="1244665"/>
          </a:xfrm>
          <a:prstGeom prst="rect">
            <a:avLst/>
          </a:prstGeom>
        </p:spPr>
        <p:txBody>
          <a:bodyPr anchor="t" rtlCol="false" tIns="0" lIns="0" bIns="0" rIns="0">
            <a:spAutoFit/>
          </a:bodyPr>
          <a:lstStyle/>
          <a:p>
            <a:pPr algn="l">
              <a:lnSpc>
                <a:spcPts val="9099"/>
              </a:lnSpc>
            </a:pPr>
            <a:r>
              <a:rPr lang="en-US" sz="9999">
                <a:solidFill>
                  <a:srgbClr val="FFFFFF"/>
                </a:solidFill>
                <a:latin typeface="Squada One"/>
                <a:ea typeface="Squada One"/>
                <a:cs typeface="Squada One"/>
                <a:sym typeface="Squada One"/>
              </a:rPr>
              <a:t>METODE</a:t>
            </a:r>
          </a:p>
        </p:txBody>
      </p:sp>
      <p:sp>
        <p:nvSpPr>
          <p:cNvPr name="TextBox 6" id="6"/>
          <p:cNvSpPr txBox="true"/>
          <p:nvPr/>
        </p:nvSpPr>
        <p:spPr>
          <a:xfrm rot="0">
            <a:off x="1108137" y="2523882"/>
            <a:ext cx="2614562" cy="692084"/>
          </a:xfrm>
          <a:prstGeom prst="rect">
            <a:avLst/>
          </a:prstGeom>
        </p:spPr>
        <p:txBody>
          <a:bodyPr anchor="t" rtlCol="false" tIns="0" lIns="0" bIns="0" rIns="0">
            <a:spAutoFit/>
          </a:bodyPr>
          <a:lstStyle/>
          <a:p>
            <a:pPr algn="l">
              <a:lnSpc>
                <a:spcPts val="2800"/>
              </a:lnSpc>
            </a:pPr>
            <a:r>
              <a:rPr lang="en-US" sz="2000">
                <a:solidFill>
                  <a:srgbClr val="FFFFFF"/>
                </a:solidFill>
                <a:latin typeface="Montserrat"/>
                <a:ea typeface="Montserrat"/>
                <a:cs typeface="Montserrat"/>
                <a:sym typeface="Montserrat"/>
              </a:rPr>
              <a:t>ALUR DAN TUJUAN PENELITIAN</a:t>
            </a:r>
          </a:p>
        </p:txBody>
      </p:sp>
      <p:grpSp>
        <p:nvGrpSpPr>
          <p:cNvPr name="Group 7" id="7"/>
          <p:cNvGrpSpPr/>
          <p:nvPr/>
        </p:nvGrpSpPr>
        <p:grpSpPr>
          <a:xfrm rot="0">
            <a:off x="5942463" y="1028700"/>
            <a:ext cx="5607358" cy="8227235"/>
            <a:chOff x="0" y="0"/>
            <a:chExt cx="959845" cy="1408305"/>
          </a:xfrm>
        </p:grpSpPr>
        <p:sp>
          <p:nvSpPr>
            <p:cNvPr name="Freeform 8" id="8"/>
            <p:cNvSpPr/>
            <p:nvPr/>
          </p:nvSpPr>
          <p:spPr>
            <a:xfrm flipH="false" flipV="false" rot="0">
              <a:off x="0" y="0"/>
              <a:ext cx="959845" cy="1408305"/>
            </a:xfrm>
            <a:custGeom>
              <a:avLst/>
              <a:gdLst/>
              <a:ahLst/>
              <a:cxnLst/>
              <a:rect r="r" b="b" t="t" l="l"/>
              <a:pathLst>
                <a:path h="1408305" w="959845">
                  <a:moveTo>
                    <a:pt x="0" y="0"/>
                  </a:moveTo>
                  <a:lnTo>
                    <a:pt x="959845" y="0"/>
                  </a:lnTo>
                  <a:lnTo>
                    <a:pt x="959845" y="1408305"/>
                  </a:lnTo>
                  <a:lnTo>
                    <a:pt x="0" y="1408305"/>
                  </a:lnTo>
                  <a:close/>
                </a:path>
              </a:pathLst>
            </a:custGeom>
            <a:blipFill>
              <a:blip r:embed="rId5"/>
              <a:stretch>
                <a:fillRect l="0" t="0" r="0" b="-91254"/>
              </a:stretch>
            </a:blipFill>
          </p:spPr>
        </p:sp>
      </p:grpSp>
      <p:grpSp>
        <p:nvGrpSpPr>
          <p:cNvPr name="Group 9" id="9"/>
          <p:cNvGrpSpPr/>
          <p:nvPr/>
        </p:nvGrpSpPr>
        <p:grpSpPr>
          <a:xfrm rot="0">
            <a:off x="11651942" y="1028700"/>
            <a:ext cx="5607358" cy="8227235"/>
            <a:chOff x="0" y="0"/>
            <a:chExt cx="959845" cy="1408305"/>
          </a:xfrm>
        </p:grpSpPr>
        <p:sp>
          <p:nvSpPr>
            <p:cNvPr name="Freeform 10" id="10"/>
            <p:cNvSpPr/>
            <p:nvPr/>
          </p:nvSpPr>
          <p:spPr>
            <a:xfrm flipH="false" flipV="false" rot="0">
              <a:off x="0" y="0"/>
              <a:ext cx="959845" cy="1408305"/>
            </a:xfrm>
            <a:custGeom>
              <a:avLst/>
              <a:gdLst/>
              <a:ahLst/>
              <a:cxnLst/>
              <a:rect r="r" b="b" t="t" l="l"/>
              <a:pathLst>
                <a:path h="1408305" w="959845">
                  <a:moveTo>
                    <a:pt x="0" y="0"/>
                  </a:moveTo>
                  <a:lnTo>
                    <a:pt x="959845" y="0"/>
                  </a:lnTo>
                  <a:lnTo>
                    <a:pt x="959845" y="1408305"/>
                  </a:lnTo>
                  <a:lnTo>
                    <a:pt x="0" y="1408305"/>
                  </a:lnTo>
                  <a:close/>
                </a:path>
              </a:pathLst>
            </a:custGeom>
            <a:blipFill>
              <a:blip r:embed="rId5"/>
              <a:stretch>
                <a:fillRect l="0" t="-91254"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5947" t="-11829" r="-7870" b="-11438"/>
            </a:stretch>
          </a:blipFill>
        </p:spPr>
      </p:sp>
      <p:grpSp>
        <p:nvGrpSpPr>
          <p:cNvPr name="Group 3" id="3"/>
          <p:cNvGrpSpPr/>
          <p:nvPr/>
        </p:nvGrpSpPr>
        <p:grpSpPr>
          <a:xfrm rot="0">
            <a:off x="9827176" y="0"/>
            <a:ext cx="8460824" cy="10287000"/>
            <a:chOff x="0" y="0"/>
            <a:chExt cx="5222731" cy="6350000"/>
          </a:xfrm>
        </p:grpSpPr>
        <p:sp>
          <p:nvSpPr>
            <p:cNvPr name="Freeform 4" id="4"/>
            <p:cNvSpPr/>
            <p:nvPr/>
          </p:nvSpPr>
          <p:spPr>
            <a:xfrm flipH="false" flipV="false" rot="0">
              <a:off x="0" y="0"/>
              <a:ext cx="5222731" cy="6350000"/>
            </a:xfrm>
            <a:custGeom>
              <a:avLst/>
              <a:gdLst/>
              <a:ahLst/>
              <a:cxnLst/>
              <a:rect r="r" b="b" t="t" l="l"/>
              <a:pathLst>
                <a:path h="6350000" w="5222731">
                  <a:moveTo>
                    <a:pt x="5222731" y="0"/>
                  </a:moveTo>
                  <a:lnTo>
                    <a:pt x="5222731" y="6350000"/>
                  </a:lnTo>
                  <a:lnTo>
                    <a:pt x="0" y="6350000"/>
                  </a:lnTo>
                  <a:lnTo>
                    <a:pt x="0" y="4433570"/>
                  </a:lnTo>
                  <a:cubicBezTo>
                    <a:pt x="0" y="1985010"/>
                    <a:pt x="2338335" y="0"/>
                    <a:pt x="5222731" y="0"/>
                  </a:cubicBezTo>
                  <a:close/>
                </a:path>
              </a:pathLst>
            </a:custGeom>
            <a:blipFill>
              <a:blip r:embed="rId3">
                <a:alphaModFix amt="55000"/>
              </a:blip>
              <a:stretch>
                <a:fillRect l="-41244" t="0" r="-41244" b="0"/>
              </a:stretch>
            </a:blipFill>
          </p:spPr>
        </p:sp>
      </p:grpSp>
      <p:sp>
        <p:nvSpPr>
          <p:cNvPr name="Freeform 5" id="5"/>
          <p:cNvSpPr/>
          <p:nvPr/>
        </p:nvSpPr>
        <p:spPr>
          <a:xfrm flipH="false" flipV="false" rot="0">
            <a:off x="8334501" y="0"/>
            <a:ext cx="4928366" cy="4650585"/>
          </a:xfrm>
          <a:custGeom>
            <a:avLst/>
            <a:gdLst/>
            <a:ahLst/>
            <a:cxnLst/>
            <a:rect r="r" b="b" t="t" l="l"/>
            <a:pathLst>
              <a:path h="4650585" w="4928366">
                <a:moveTo>
                  <a:pt x="0" y="0"/>
                </a:moveTo>
                <a:lnTo>
                  <a:pt x="4928366" y="0"/>
                </a:lnTo>
                <a:lnTo>
                  <a:pt x="4928366" y="4650585"/>
                </a:lnTo>
                <a:lnTo>
                  <a:pt x="0" y="46505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2929750">
            <a:off x="4992600" y="8193181"/>
            <a:ext cx="2257477" cy="2130237"/>
          </a:xfrm>
          <a:custGeom>
            <a:avLst/>
            <a:gdLst/>
            <a:ahLst/>
            <a:cxnLst/>
            <a:rect r="r" b="b" t="t" l="l"/>
            <a:pathLst>
              <a:path h="2130237" w="2257477">
                <a:moveTo>
                  <a:pt x="0" y="0"/>
                </a:moveTo>
                <a:lnTo>
                  <a:pt x="2257477" y="0"/>
                </a:lnTo>
                <a:lnTo>
                  <a:pt x="2257477" y="2130238"/>
                </a:lnTo>
                <a:lnTo>
                  <a:pt x="0" y="2130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aphicFrame>
        <p:nvGraphicFramePr>
          <p:cNvPr name="Object 7" id="7"/>
          <p:cNvGraphicFramePr/>
          <p:nvPr/>
        </p:nvGraphicFramePr>
        <p:xfrm>
          <a:off x="1028700" y="2844072"/>
          <a:ext cx="9429750" cy="3771900"/>
        </p:xfrm>
        <a:graphic>
          <a:graphicData uri="http://schemas.openxmlformats.org/presentationml/2006/ole">
            <p:oleObj imgW="11315700" imgH="56515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8" id="8"/>
          <p:cNvSpPr txBox="true"/>
          <p:nvPr/>
        </p:nvSpPr>
        <p:spPr>
          <a:xfrm rot="0">
            <a:off x="1028700" y="1304925"/>
            <a:ext cx="8798476" cy="1244599"/>
          </a:xfrm>
          <a:prstGeom prst="rect">
            <a:avLst/>
          </a:prstGeom>
        </p:spPr>
        <p:txBody>
          <a:bodyPr anchor="t" rtlCol="false" tIns="0" lIns="0" bIns="0" rIns="0">
            <a:spAutoFit/>
          </a:bodyPr>
          <a:lstStyle/>
          <a:p>
            <a:pPr algn="l">
              <a:lnSpc>
                <a:spcPts val="9099"/>
              </a:lnSpc>
            </a:pPr>
            <a:r>
              <a:rPr lang="en-US" sz="9999">
                <a:solidFill>
                  <a:srgbClr val="FFFFFF"/>
                </a:solidFill>
                <a:latin typeface="Squada One"/>
                <a:ea typeface="Squada One"/>
                <a:cs typeface="Squada One"/>
                <a:sym typeface="Squada One"/>
              </a:rPr>
              <a:t>HASIL KUANTITATIF</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5947" t="-11829" r="-7870" b="-11438"/>
            </a:stretch>
          </a:blipFill>
        </p:spPr>
      </p:sp>
      <p:sp>
        <p:nvSpPr>
          <p:cNvPr name="Freeform 3" id="3"/>
          <p:cNvSpPr/>
          <p:nvPr/>
        </p:nvSpPr>
        <p:spPr>
          <a:xfrm flipH="false" flipV="false" rot="-3032194">
            <a:off x="8046110" y="711546"/>
            <a:ext cx="2559125" cy="2414883"/>
          </a:xfrm>
          <a:custGeom>
            <a:avLst/>
            <a:gdLst/>
            <a:ahLst/>
            <a:cxnLst/>
            <a:rect r="r" b="b" t="t" l="l"/>
            <a:pathLst>
              <a:path h="2414883" w="2559125">
                <a:moveTo>
                  <a:pt x="0" y="0"/>
                </a:moveTo>
                <a:lnTo>
                  <a:pt x="2559125" y="0"/>
                </a:lnTo>
                <a:lnTo>
                  <a:pt x="2559125" y="2414884"/>
                </a:lnTo>
                <a:lnTo>
                  <a:pt x="0" y="2414884"/>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344910" y="0"/>
            <a:ext cx="7943090" cy="11355780"/>
            <a:chOff x="0" y="0"/>
            <a:chExt cx="6927224" cy="9903454"/>
          </a:xfrm>
        </p:grpSpPr>
        <p:sp>
          <p:nvSpPr>
            <p:cNvPr name="Freeform 5" id="5"/>
            <p:cNvSpPr/>
            <p:nvPr/>
          </p:nvSpPr>
          <p:spPr>
            <a:xfrm flipH="false" flipV="false" rot="0">
              <a:off x="0" y="0"/>
              <a:ext cx="6927224" cy="9903454"/>
            </a:xfrm>
            <a:custGeom>
              <a:avLst/>
              <a:gdLst/>
              <a:ahLst/>
              <a:cxnLst/>
              <a:rect r="r" b="b" t="t" l="l"/>
              <a:pathLst>
                <a:path h="9903454" w="6927224">
                  <a:moveTo>
                    <a:pt x="6205638" y="0"/>
                  </a:moveTo>
                  <a:lnTo>
                    <a:pt x="721586" y="0"/>
                  </a:lnTo>
                  <a:cubicBezTo>
                    <a:pt x="323270" y="0"/>
                    <a:pt x="0" y="462161"/>
                    <a:pt x="0" y="1031610"/>
                  </a:cubicBezTo>
                  <a:lnTo>
                    <a:pt x="0" y="9903454"/>
                  </a:lnTo>
                  <a:lnTo>
                    <a:pt x="6205638" y="9903454"/>
                  </a:lnTo>
                  <a:cubicBezTo>
                    <a:pt x="6603953" y="9903454"/>
                    <a:pt x="6927224" y="9441293"/>
                    <a:pt x="6927224" y="8871844"/>
                  </a:cubicBezTo>
                  <a:lnTo>
                    <a:pt x="6927224" y="0"/>
                  </a:lnTo>
                  <a:lnTo>
                    <a:pt x="6205638" y="0"/>
                  </a:lnTo>
                  <a:close/>
                </a:path>
              </a:pathLst>
            </a:custGeom>
            <a:blipFill>
              <a:blip r:embed="rId5"/>
              <a:stretch>
                <a:fillRect l="-57290" t="0" r="-57290" b="0"/>
              </a:stretch>
            </a:blipFill>
          </p:spPr>
        </p:sp>
      </p:grpSp>
      <p:sp>
        <p:nvSpPr>
          <p:cNvPr name="Freeform 6" id="6"/>
          <p:cNvSpPr/>
          <p:nvPr/>
        </p:nvSpPr>
        <p:spPr>
          <a:xfrm flipH="false" flipV="false" rot="2699999">
            <a:off x="6061660" y="7996077"/>
            <a:ext cx="4855520" cy="4581845"/>
          </a:xfrm>
          <a:custGeom>
            <a:avLst/>
            <a:gdLst/>
            <a:ahLst/>
            <a:cxnLst/>
            <a:rect r="r" b="b" t="t" l="l"/>
            <a:pathLst>
              <a:path h="4581845" w="4855520">
                <a:moveTo>
                  <a:pt x="0" y="0"/>
                </a:moveTo>
                <a:lnTo>
                  <a:pt x="4855520" y="0"/>
                </a:lnTo>
                <a:lnTo>
                  <a:pt x="4855520" y="4581846"/>
                </a:lnTo>
                <a:lnTo>
                  <a:pt x="0" y="4581846"/>
                </a:lnTo>
                <a:lnTo>
                  <a:pt x="0" y="0"/>
                </a:lnTo>
                <a:close/>
              </a:path>
            </a:pathLst>
          </a:custGeom>
          <a:blipFill>
            <a:blip r:embed="rId3">
              <a:alphaModFix amt="65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28700" y="2962845"/>
            <a:ext cx="7757932" cy="6012397"/>
          </a:xfrm>
          <a:custGeom>
            <a:avLst/>
            <a:gdLst/>
            <a:ahLst/>
            <a:cxnLst/>
            <a:rect r="r" b="b" t="t" l="l"/>
            <a:pathLst>
              <a:path h="6012397" w="7757932">
                <a:moveTo>
                  <a:pt x="0" y="0"/>
                </a:moveTo>
                <a:lnTo>
                  <a:pt x="7757932" y="0"/>
                </a:lnTo>
                <a:lnTo>
                  <a:pt x="7757932" y="6012397"/>
                </a:lnTo>
                <a:lnTo>
                  <a:pt x="0" y="6012397"/>
                </a:lnTo>
                <a:lnTo>
                  <a:pt x="0" y="0"/>
                </a:lnTo>
                <a:close/>
              </a:path>
            </a:pathLst>
          </a:custGeom>
          <a:blipFill>
            <a:blip r:embed="rId6"/>
            <a:stretch>
              <a:fillRect l="0" t="0" r="0" b="0"/>
            </a:stretch>
          </a:blipFill>
        </p:spPr>
      </p:sp>
      <p:sp>
        <p:nvSpPr>
          <p:cNvPr name="TextBox 8" id="8"/>
          <p:cNvSpPr txBox="true"/>
          <p:nvPr/>
        </p:nvSpPr>
        <p:spPr>
          <a:xfrm rot="0">
            <a:off x="1028700" y="1304925"/>
            <a:ext cx="8739478" cy="1244599"/>
          </a:xfrm>
          <a:prstGeom prst="rect">
            <a:avLst/>
          </a:prstGeom>
        </p:spPr>
        <p:txBody>
          <a:bodyPr anchor="t" rtlCol="false" tIns="0" lIns="0" bIns="0" rIns="0">
            <a:spAutoFit/>
          </a:bodyPr>
          <a:lstStyle/>
          <a:p>
            <a:pPr algn="l">
              <a:lnSpc>
                <a:spcPts val="9099"/>
              </a:lnSpc>
            </a:pPr>
            <a:r>
              <a:rPr lang="en-US" sz="9999">
                <a:solidFill>
                  <a:srgbClr val="FFFFFF"/>
                </a:solidFill>
                <a:latin typeface="Squada One"/>
                <a:ea typeface="Squada One"/>
                <a:cs typeface="Squada One"/>
                <a:sym typeface="Squada One"/>
              </a:rPr>
              <a:t>HASIL KUALITATIF</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5947" t="-11829" r="-7870" b="-11438"/>
            </a:stretch>
          </a:blipFill>
        </p:spPr>
      </p:sp>
      <p:sp>
        <p:nvSpPr>
          <p:cNvPr name="Freeform 3" id="3"/>
          <p:cNvSpPr/>
          <p:nvPr/>
        </p:nvSpPr>
        <p:spPr>
          <a:xfrm flipH="false" flipV="false" rot="0">
            <a:off x="10426759" y="506038"/>
            <a:ext cx="9828918" cy="9274924"/>
          </a:xfrm>
          <a:custGeom>
            <a:avLst/>
            <a:gdLst/>
            <a:ahLst/>
            <a:cxnLst/>
            <a:rect r="r" b="b" t="t" l="l"/>
            <a:pathLst>
              <a:path h="9274924" w="9828918">
                <a:moveTo>
                  <a:pt x="0" y="0"/>
                </a:moveTo>
                <a:lnTo>
                  <a:pt x="9828918" y="0"/>
                </a:lnTo>
                <a:lnTo>
                  <a:pt x="9828918" y="9274924"/>
                </a:lnTo>
                <a:lnTo>
                  <a:pt x="0" y="92749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4" id="4"/>
          <p:cNvGrpSpPr/>
          <p:nvPr/>
        </p:nvGrpSpPr>
        <p:grpSpPr>
          <a:xfrm rot="0">
            <a:off x="9892197" y="1459949"/>
            <a:ext cx="7367103" cy="736710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alphaModFix amt="70000"/>
              </a:blip>
              <a:stretch>
                <a:fillRect l="-25046" t="0" r="-25046" b="0"/>
              </a:stretch>
            </a:blipFill>
          </p:spPr>
        </p:sp>
      </p:grpSp>
      <p:sp>
        <p:nvSpPr>
          <p:cNvPr name="Freeform 6" id="6"/>
          <p:cNvSpPr/>
          <p:nvPr/>
        </p:nvSpPr>
        <p:spPr>
          <a:xfrm flipH="false" flipV="false" rot="0">
            <a:off x="1028700" y="3330257"/>
            <a:ext cx="8354211" cy="3091058"/>
          </a:xfrm>
          <a:custGeom>
            <a:avLst/>
            <a:gdLst/>
            <a:ahLst/>
            <a:cxnLst/>
            <a:rect r="r" b="b" t="t" l="l"/>
            <a:pathLst>
              <a:path h="3091058" w="8354211">
                <a:moveTo>
                  <a:pt x="0" y="0"/>
                </a:moveTo>
                <a:lnTo>
                  <a:pt x="8354211" y="0"/>
                </a:lnTo>
                <a:lnTo>
                  <a:pt x="8354211" y="3091058"/>
                </a:lnTo>
                <a:lnTo>
                  <a:pt x="0" y="3091058"/>
                </a:lnTo>
                <a:lnTo>
                  <a:pt x="0" y="0"/>
                </a:lnTo>
                <a:close/>
              </a:path>
            </a:pathLst>
          </a:custGeom>
          <a:blipFill>
            <a:blip r:embed="rId6"/>
            <a:stretch>
              <a:fillRect l="0" t="0" r="0" b="0"/>
            </a:stretch>
          </a:blipFill>
        </p:spPr>
      </p:sp>
      <p:sp>
        <p:nvSpPr>
          <p:cNvPr name="Freeform 7" id="7"/>
          <p:cNvSpPr/>
          <p:nvPr/>
        </p:nvSpPr>
        <p:spPr>
          <a:xfrm flipH="false" flipV="false" rot="0">
            <a:off x="1022735" y="6545140"/>
            <a:ext cx="8360175" cy="3093265"/>
          </a:xfrm>
          <a:custGeom>
            <a:avLst/>
            <a:gdLst/>
            <a:ahLst/>
            <a:cxnLst/>
            <a:rect r="r" b="b" t="t" l="l"/>
            <a:pathLst>
              <a:path h="3093265" w="8360175">
                <a:moveTo>
                  <a:pt x="0" y="0"/>
                </a:moveTo>
                <a:lnTo>
                  <a:pt x="8360176" y="0"/>
                </a:lnTo>
                <a:lnTo>
                  <a:pt x="8360176" y="3093265"/>
                </a:lnTo>
                <a:lnTo>
                  <a:pt x="0" y="3093265"/>
                </a:lnTo>
                <a:lnTo>
                  <a:pt x="0" y="0"/>
                </a:lnTo>
                <a:close/>
              </a:path>
            </a:pathLst>
          </a:custGeom>
          <a:blipFill>
            <a:blip r:embed="rId7"/>
            <a:stretch>
              <a:fillRect l="0" t="0" r="0" b="0"/>
            </a:stretch>
          </a:blipFill>
        </p:spPr>
      </p:sp>
      <p:sp>
        <p:nvSpPr>
          <p:cNvPr name="TextBox 8" id="8"/>
          <p:cNvSpPr txBox="true"/>
          <p:nvPr/>
        </p:nvSpPr>
        <p:spPr>
          <a:xfrm rot="0">
            <a:off x="1028700" y="809625"/>
            <a:ext cx="8433727" cy="2397124"/>
          </a:xfrm>
          <a:prstGeom prst="rect">
            <a:avLst/>
          </a:prstGeom>
        </p:spPr>
        <p:txBody>
          <a:bodyPr anchor="t" rtlCol="false" tIns="0" lIns="0" bIns="0" rIns="0">
            <a:spAutoFit/>
          </a:bodyPr>
          <a:lstStyle/>
          <a:p>
            <a:pPr algn="l">
              <a:lnSpc>
                <a:spcPts val="9099"/>
              </a:lnSpc>
            </a:pPr>
            <a:r>
              <a:rPr lang="en-US" sz="9999">
                <a:solidFill>
                  <a:srgbClr val="FFFFFF"/>
                </a:solidFill>
                <a:latin typeface="Squada One"/>
                <a:ea typeface="Squada One"/>
                <a:cs typeface="Squada One"/>
                <a:sym typeface="Squada One"/>
              </a:rPr>
              <a:t>PENGUJIAN REAL-WORLD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5947" t="-11829" r="-7870" b="-11438"/>
            </a:stretch>
          </a:blipFill>
        </p:spPr>
      </p:sp>
      <p:sp>
        <p:nvSpPr>
          <p:cNvPr name="Freeform 3" id="3"/>
          <p:cNvSpPr/>
          <p:nvPr/>
        </p:nvSpPr>
        <p:spPr>
          <a:xfrm flipH="false" flipV="false" rot="2699999">
            <a:off x="-31121" y="8136102"/>
            <a:ext cx="2869485" cy="2707750"/>
          </a:xfrm>
          <a:custGeom>
            <a:avLst/>
            <a:gdLst/>
            <a:ahLst/>
            <a:cxnLst/>
            <a:rect r="r" b="b" t="t" l="l"/>
            <a:pathLst>
              <a:path h="2707750" w="2869485">
                <a:moveTo>
                  <a:pt x="0" y="0"/>
                </a:moveTo>
                <a:lnTo>
                  <a:pt x="2869485" y="0"/>
                </a:lnTo>
                <a:lnTo>
                  <a:pt x="2869485" y="2707750"/>
                </a:lnTo>
                <a:lnTo>
                  <a:pt x="0" y="2707750"/>
                </a:lnTo>
                <a:lnTo>
                  <a:pt x="0" y="0"/>
                </a:lnTo>
                <a:close/>
              </a:path>
            </a:pathLst>
          </a:custGeom>
          <a:blipFill>
            <a:blip r:embed="rId3">
              <a:alphaModFix amt="73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3350369">
            <a:off x="11393949" y="-729651"/>
            <a:ext cx="4392299" cy="4144734"/>
          </a:xfrm>
          <a:custGeom>
            <a:avLst/>
            <a:gdLst/>
            <a:ahLst/>
            <a:cxnLst/>
            <a:rect r="r" b="b" t="t" l="l"/>
            <a:pathLst>
              <a:path h="4144734" w="4392299">
                <a:moveTo>
                  <a:pt x="0" y="0"/>
                </a:moveTo>
                <a:lnTo>
                  <a:pt x="4392300" y="0"/>
                </a:lnTo>
                <a:lnTo>
                  <a:pt x="4392300" y="4144734"/>
                </a:lnTo>
                <a:lnTo>
                  <a:pt x="0" y="41447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3350369">
            <a:off x="10621617" y="-355395"/>
            <a:ext cx="1486768" cy="1402968"/>
          </a:xfrm>
          <a:custGeom>
            <a:avLst/>
            <a:gdLst/>
            <a:ahLst/>
            <a:cxnLst/>
            <a:rect r="r" b="b" t="t" l="l"/>
            <a:pathLst>
              <a:path h="1402968" w="1486768">
                <a:moveTo>
                  <a:pt x="0" y="0"/>
                </a:moveTo>
                <a:lnTo>
                  <a:pt x="1486768" y="0"/>
                </a:lnTo>
                <a:lnTo>
                  <a:pt x="1486768" y="1402968"/>
                </a:lnTo>
                <a:lnTo>
                  <a:pt x="0" y="14029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028700" y="1304925"/>
            <a:ext cx="5773827" cy="1244665"/>
          </a:xfrm>
          <a:prstGeom prst="rect">
            <a:avLst/>
          </a:prstGeom>
        </p:spPr>
        <p:txBody>
          <a:bodyPr anchor="t" rtlCol="false" tIns="0" lIns="0" bIns="0" rIns="0">
            <a:spAutoFit/>
          </a:bodyPr>
          <a:lstStyle/>
          <a:p>
            <a:pPr algn="ctr">
              <a:lnSpc>
                <a:spcPts val="9099"/>
              </a:lnSpc>
            </a:pPr>
            <a:r>
              <a:rPr lang="en-US" sz="9999">
                <a:solidFill>
                  <a:srgbClr val="FFFFFF"/>
                </a:solidFill>
                <a:latin typeface="Squada One"/>
                <a:ea typeface="Squada One"/>
                <a:cs typeface="Squada One"/>
                <a:sym typeface="Squada One"/>
              </a:rPr>
              <a:t>KESIMPULAN</a:t>
            </a:r>
          </a:p>
        </p:txBody>
      </p:sp>
      <p:sp>
        <p:nvSpPr>
          <p:cNvPr name="TextBox 7" id="7"/>
          <p:cNvSpPr txBox="true"/>
          <p:nvPr/>
        </p:nvSpPr>
        <p:spPr>
          <a:xfrm rot="0">
            <a:off x="1146143" y="2799952"/>
            <a:ext cx="10218858" cy="3511219"/>
          </a:xfrm>
          <a:prstGeom prst="rect">
            <a:avLst/>
          </a:prstGeom>
        </p:spPr>
        <p:txBody>
          <a:bodyPr anchor="t" rtlCol="false" tIns="0" lIns="0" bIns="0" rIns="0">
            <a:spAutoFit/>
          </a:bodyPr>
          <a:lstStyle/>
          <a:p>
            <a:pPr algn="just">
              <a:lnSpc>
                <a:spcPts val="2800"/>
              </a:lnSpc>
            </a:pPr>
            <a:r>
              <a:rPr lang="en-US" sz="2000">
                <a:solidFill>
                  <a:srgbClr val="FFFFFF"/>
                </a:solidFill>
                <a:latin typeface="Montserrat"/>
                <a:ea typeface="Montserrat"/>
                <a:cs typeface="Montserrat"/>
                <a:sym typeface="Montserrat"/>
              </a:rPr>
              <a:t>Penel</a:t>
            </a:r>
            <a:r>
              <a:rPr lang="en-US" sz="2000" strike="noStrike" u="none">
                <a:solidFill>
                  <a:srgbClr val="FFFFFF"/>
                </a:solidFill>
                <a:latin typeface="Montserrat"/>
                <a:ea typeface="Montserrat"/>
                <a:cs typeface="Montserrat"/>
                <a:sym typeface="Montserrat"/>
              </a:rPr>
              <a:t>itian ini berhasil mengimplementasikan arsitektur Super-Resolution Gen</a:t>
            </a:r>
            <a:r>
              <a:rPr lang="en-US" sz="2000" strike="noStrike" u="none">
                <a:solidFill>
                  <a:srgbClr val="FFFFFF"/>
                </a:solidFill>
                <a:latin typeface="Montserrat"/>
                <a:ea typeface="Montserrat"/>
                <a:cs typeface="Montserrat"/>
                <a:sym typeface="Montserrat"/>
              </a:rPr>
              <a:t>erative Adversarial Network (SRGAN) menggunakan strategi pelatihan dua tahap (two-stage training) untuk rekonstruksi citra resolusi tinggi. H</a:t>
            </a:r>
            <a:r>
              <a:rPr lang="en-US" sz="2000" strike="noStrike" u="none">
                <a:solidFill>
                  <a:srgbClr val="FFFFFF"/>
                </a:solidFill>
                <a:latin typeface="Montserrat"/>
                <a:ea typeface="Montserrat"/>
                <a:cs typeface="Montserrat"/>
                <a:sym typeface="Montserrat"/>
              </a:rPr>
              <a:t>asil evaluasi mengonfirmasi fenomena Perception-Distortion Trade-off, di mana model berbasis Pixel Loss (Epoch 12) unggul dalam fidelitas sinyal (PSNR 34.66 dB), namun model berbasis Perceptual Loss (Epoch 35) menunjukkan superioritas signifikan dalam pemulihan detail frekuensi tinggi dan kualitas perseptual visual. Hal ini</a:t>
            </a:r>
            <a:r>
              <a:rPr lang="en-US" sz="2000" strike="noStrike" u="none">
                <a:solidFill>
                  <a:srgbClr val="FFFFFF"/>
                </a:solidFill>
                <a:latin typeface="Montserrat"/>
                <a:ea typeface="Montserrat"/>
                <a:cs typeface="Montserrat"/>
                <a:sym typeface="Montserrat"/>
              </a:rPr>
              <a:t> m</a:t>
            </a:r>
            <a:r>
              <a:rPr lang="en-US" sz="2000" strike="noStrike" u="none">
                <a:solidFill>
                  <a:srgbClr val="FFFFFF"/>
                </a:solidFill>
                <a:latin typeface="Montserrat"/>
                <a:ea typeface="Montserrat"/>
                <a:cs typeface="Montserrat"/>
                <a:sym typeface="Montserrat"/>
              </a:rPr>
              <a:t>embuktikan bahwa inte</a:t>
            </a:r>
            <a:r>
              <a:rPr lang="en-US" sz="2000" strike="noStrike" u="none">
                <a:solidFill>
                  <a:srgbClr val="FFFFFF"/>
                </a:solidFill>
                <a:latin typeface="Montserrat"/>
                <a:ea typeface="Montserrat"/>
                <a:cs typeface="Montserrat"/>
                <a:sym typeface="Montserrat"/>
              </a:rPr>
              <a:t>grasi Ad</a:t>
            </a:r>
            <a:r>
              <a:rPr lang="en-US" sz="2000" strike="noStrike" u="none">
                <a:solidFill>
                  <a:srgbClr val="FFFFFF"/>
                </a:solidFill>
                <a:latin typeface="Montserrat"/>
                <a:ea typeface="Montserrat"/>
                <a:cs typeface="Montserrat"/>
                <a:sym typeface="Montserrat"/>
              </a:rPr>
              <a:t>versarial Training efektif menghasilkan citra yang fotorealistis dan robust pada pengujian real-world, melampaui keterbatasan metode interpolasi konvensional.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DAG9Wy5aVag</dc:identifier>
  <dcterms:modified xsi:type="dcterms:W3CDTF">2011-08-01T06:04:30Z</dcterms:modified>
  <cp:revision>1</cp:revision>
  <dc:title>Implementasi SRGAN untuk Super-Resolution pada Dataset DIV2K dan Set 5 dan 14</dc:title>
</cp:coreProperties>
</file>